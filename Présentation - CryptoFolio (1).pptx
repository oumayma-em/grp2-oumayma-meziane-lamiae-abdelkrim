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Helvetica World" panose="020B0604020202020204" charset="-128"/>
      <p:regular r:id="rId12"/>
    </p:embeddedFont>
    <p:embeddedFont>
      <p:font typeface="Helvetica World Bold" panose="020B0604020202020204" charset="-128"/>
      <p:regular r:id="rId13"/>
    </p:embeddedFont>
    <p:embeddedFont>
      <p:font typeface="Calibri" panose="020F0502020204030204" pitchFamily="34" charset="0"/>
      <p:regular r:id="rId14"/>
      <p:bold r:id="rId15"/>
      <p:italic r:id="rId16"/>
      <p:boldItalic r:id="rId17"/>
    </p:embeddedFont>
    <p:embeddedFont>
      <p:font typeface="Georgia Pro Condense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43" d="100"/>
          <a:sy n="43" d="100"/>
        </p:scale>
        <p:origin x="74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extBox 2"/>
          <p:cNvSpPr txBox="1"/>
          <p:nvPr/>
        </p:nvSpPr>
        <p:spPr>
          <a:xfrm>
            <a:off x="506784" y="7087511"/>
            <a:ext cx="3848100" cy="1690078"/>
          </a:xfrm>
          <a:prstGeom prst="rect">
            <a:avLst/>
          </a:prstGeom>
        </p:spPr>
        <p:txBody>
          <a:bodyPr wrap="square" lIns="0" tIns="0" rIns="0" bIns="0" rtlCol="0" anchor="t">
            <a:spAutoFit/>
          </a:bodyPr>
          <a:lstStyle/>
          <a:p>
            <a:pPr marL="0" lvl="0" indent="0" algn="l">
              <a:lnSpc>
                <a:spcPts val="4480"/>
              </a:lnSpc>
              <a:spcBef>
                <a:spcPct val="0"/>
              </a:spcBef>
            </a:pPr>
            <a:r>
              <a:rPr lang="en-US" sz="3200" strike="noStrike" spc="-48" dirty="0">
                <a:solidFill>
                  <a:srgbClr val="ECF0F1"/>
                </a:solidFill>
                <a:latin typeface="Helvetica World"/>
                <a:ea typeface="Helvetica World"/>
                <a:cs typeface="Helvetica World"/>
                <a:sym typeface="Helvetica World"/>
              </a:rPr>
              <a:t>Présentées par : </a:t>
            </a:r>
          </a:p>
          <a:p>
            <a:pPr marL="0" lvl="0" indent="0" algn="l">
              <a:lnSpc>
                <a:spcPts val="4480"/>
              </a:lnSpc>
              <a:spcBef>
                <a:spcPct val="0"/>
              </a:spcBef>
            </a:pPr>
            <a:r>
              <a:rPr lang="en-US" sz="3200" strike="noStrike" spc="-48" dirty="0">
                <a:solidFill>
                  <a:srgbClr val="ECF0F1"/>
                </a:solidFill>
                <a:latin typeface="Helvetica World"/>
                <a:ea typeface="Helvetica World"/>
                <a:cs typeface="Helvetica World"/>
                <a:sym typeface="Helvetica World"/>
              </a:rPr>
              <a:t>Abdelkrim Lamiae </a:t>
            </a:r>
          </a:p>
          <a:p>
            <a:pPr marL="0" lvl="0" indent="0" algn="l">
              <a:lnSpc>
                <a:spcPts val="4480"/>
              </a:lnSpc>
              <a:spcBef>
                <a:spcPct val="0"/>
              </a:spcBef>
            </a:pPr>
            <a:r>
              <a:rPr lang="en-US" sz="3200" strike="noStrike" spc="-48" dirty="0">
                <a:solidFill>
                  <a:srgbClr val="ECF0F1"/>
                </a:solidFill>
                <a:latin typeface="Helvetica World"/>
                <a:ea typeface="Helvetica World"/>
                <a:cs typeface="Helvetica World"/>
                <a:sym typeface="Helvetica World"/>
              </a:rPr>
              <a:t>Meziane Oumayma</a:t>
            </a:r>
          </a:p>
        </p:txBody>
      </p:sp>
      <p:grpSp>
        <p:nvGrpSpPr>
          <p:cNvPr id="3" name="Group 3"/>
          <p:cNvGrpSpPr/>
          <p:nvPr/>
        </p:nvGrpSpPr>
        <p:grpSpPr>
          <a:xfrm>
            <a:off x="8839344" y="-687147"/>
            <a:ext cx="9448656" cy="13532879"/>
            <a:chOff x="0" y="0"/>
            <a:chExt cx="4433570" cy="6350000"/>
          </a:xfrm>
        </p:grpSpPr>
        <p:sp>
          <p:nvSpPr>
            <p:cNvPr id="4" name="Freeform 4"/>
            <p:cNvSpPr/>
            <p:nvPr/>
          </p:nvSpPr>
          <p:spPr>
            <a:xfrm>
              <a:off x="0" y="0"/>
              <a:ext cx="4433570" cy="6350000"/>
            </a:xfrm>
            <a:custGeom>
              <a:avLst/>
              <a:gdLst/>
              <a:ahLst/>
              <a:cxnLst/>
              <a:rect l="l" t="t" r="r" b="b"/>
              <a:pathLst>
                <a:path w="4433570" h="6350000">
                  <a:moveTo>
                    <a:pt x="4433570" y="0"/>
                  </a:moveTo>
                  <a:lnTo>
                    <a:pt x="4433570" y="6350000"/>
                  </a:lnTo>
                  <a:lnTo>
                    <a:pt x="0" y="6350000"/>
                  </a:lnTo>
                  <a:lnTo>
                    <a:pt x="0" y="4433570"/>
                  </a:lnTo>
                  <a:cubicBezTo>
                    <a:pt x="0" y="1985010"/>
                    <a:pt x="1985010" y="0"/>
                    <a:pt x="4433570" y="0"/>
                  </a:cubicBezTo>
                  <a:close/>
                </a:path>
              </a:pathLst>
            </a:custGeom>
            <a:blipFill>
              <a:blip r:embed="rId2"/>
              <a:stretch>
                <a:fillRect t="-4546" b="-4546"/>
              </a:stretch>
            </a:blipFill>
          </p:spPr>
        </p:sp>
      </p:grpSp>
      <p:sp>
        <p:nvSpPr>
          <p:cNvPr id="5" name="TextBox 5"/>
          <p:cNvSpPr txBox="1"/>
          <p:nvPr/>
        </p:nvSpPr>
        <p:spPr>
          <a:xfrm>
            <a:off x="1028700" y="2009775"/>
            <a:ext cx="7922057" cy="3133725"/>
          </a:xfrm>
          <a:prstGeom prst="rect">
            <a:avLst/>
          </a:prstGeom>
        </p:spPr>
        <p:txBody>
          <a:bodyPr lIns="0" tIns="0" rIns="0" bIns="0" rtlCol="0" anchor="t">
            <a:spAutoFit/>
          </a:bodyPr>
          <a:lstStyle/>
          <a:p>
            <a:pPr marL="0" lvl="0" indent="0" algn="ctr">
              <a:lnSpc>
                <a:spcPts val="12000"/>
              </a:lnSpc>
            </a:pPr>
            <a:r>
              <a:rPr lang="en-US" sz="12000" strike="noStrike" spc="-420">
                <a:solidFill>
                  <a:srgbClr val="ECF0F1"/>
                </a:solidFill>
                <a:latin typeface="Georgia Pro Condensed"/>
                <a:ea typeface="Georgia Pro Condensed"/>
                <a:cs typeface="Georgia Pro Condensed"/>
                <a:sym typeface="Georgia Pro Condensed"/>
              </a:rPr>
              <a:t>CryptoFolio       SPA</a:t>
            </a:r>
          </a:p>
        </p:txBody>
      </p:sp>
      <p:sp>
        <p:nvSpPr>
          <p:cNvPr id="6" name="Freeform 3">
            <a:extLst>
              <a:ext uri="{FF2B5EF4-FFF2-40B4-BE49-F238E27FC236}">
                <a16:creationId xmlns:a16="http://schemas.microsoft.com/office/drawing/2014/main" id="{D52EE5B2-28AC-407F-B205-058A06A21FFF}"/>
              </a:ext>
            </a:extLst>
          </p:cNvPr>
          <p:cNvSpPr/>
          <p:nvPr/>
        </p:nvSpPr>
        <p:spPr>
          <a:xfrm>
            <a:off x="0" y="1"/>
            <a:ext cx="3352800" cy="952500"/>
          </a:xfrm>
          <a:custGeom>
            <a:avLst/>
            <a:gdLst/>
            <a:ahLst/>
            <a:cxnLst/>
            <a:rect l="l" t="t" r="r" b="b"/>
            <a:pathLst>
              <a:path w="5597053" h="1426266">
                <a:moveTo>
                  <a:pt x="0" y="0"/>
                </a:moveTo>
                <a:lnTo>
                  <a:pt x="5597053" y="0"/>
                </a:lnTo>
                <a:lnTo>
                  <a:pt x="5597053" y="1426266"/>
                </a:lnTo>
                <a:lnTo>
                  <a:pt x="0" y="1426266"/>
                </a:lnTo>
                <a:lnTo>
                  <a:pt x="0" y="0"/>
                </a:lnTo>
                <a:close/>
              </a:path>
            </a:pathLst>
          </a:custGeom>
          <a:blipFill>
            <a:blip r:embed="rId3"/>
            <a:stretch>
              <a:fillRect t="-2977" b="-2977"/>
            </a:stretch>
          </a:blipFill>
        </p:spPr>
        <p:txBody>
          <a:bodyPr/>
          <a:lstStyle/>
          <a:p>
            <a:endParaRPr lang="fr-FR"/>
          </a:p>
        </p:txBody>
      </p:sp>
      <p:sp>
        <p:nvSpPr>
          <p:cNvPr id="8" name="Sous-titre 7">
            <a:extLst>
              <a:ext uri="{FF2B5EF4-FFF2-40B4-BE49-F238E27FC236}">
                <a16:creationId xmlns:a16="http://schemas.microsoft.com/office/drawing/2014/main" id="{44162C00-4A25-4527-BEEC-37313BF8F426}"/>
              </a:ext>
            </a:extLst>
          </p:cNvPr>
          <p:cNvSpPr>
            <a:spLocks noGrp="1"/>
          </p:cNvSpPr>
          <p:nvPr>
            <p:ph type="subTitle" idx="1"/>
          </p:nvPr>
        </p:nvSpPr>
        <p:spPr>
          <a:xfrm>
            <a:off x="4989728" y="7250625"/>
            <a:ext cx="3505200" cy="1363850"/>
          </a:xfrm>
        </p:spPr>
        <p:txBody>
          <a:bodyPr/>
          <a:lstStyle/>
          <a:p>
            <a:r>
              <a:rPr lang="en-US" spc="-48" dirty="0">
                <a:solidFill>
                  <a:srgbClr val="ECF0F1"/>
                </a:solidFill>
                <a:latin typeface="Helvetica World"/>
                <a:ea typeface="Helvetica World"/>
                <a:cs typeface="Helvetica World"/>
                <a:sym typeface="Helvetica World"/>
              </a:rPr>
              <a:t>Encadr</a:t>
            </a:r>
            <a:r>
              <a:rPr lang="fr-FR" spc="-48" dirty="0">
                <a:solidFill>
                  <a:srgbClr val="ECF0F1"/>
                </a:solidFill>
                <a:latin typeface="Helvetica World"/>
                <a:ea typeface="Helvetica World"/>
                <a:cs typeface="Helvetica World"/>
                <a:sym typeface="Helvetica World"/>
              </a:rPr>
              <a:t>é</a:t>
            </a:r>
            <a:r>
              <a:rPr lang="en-US" spc="-48" dirty="0">
                <a:solidFill>
                  <a:srgbClr val="ECF0F1"/>
                </a:solidFill>
                <a:latin typeface="Helvetica World"/>
                <a:ea typeface="Helvetica World"/>
                <a:cs typeface="Helvetica World"/>
                <a:sym typeface="Helvetica World"/>
              </a:rPr>
              <a:t>e par : </a:t>
            </a:r>
          </a:p>
          <a:p>
            <a:r>
              <a:rPr lang="fr-FR" dirty="0">
                <a:solidFill>
                  <a:schemeClr val="bg1"/>
                </a:solidFill>
              </a:rPr>
              <a:t>Tlemcani Khadija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4495E"/>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algn="ctr">
              <a:lnSpc>
                <a:spcPts val="2800"/>
              </a:lnSpc>
              <a:spcBef>
                <a:spcPct val="0"/>
              </a:spcBef>
            </a:pPr>
            <a:r>
              <a:rPr lang="en-US" sz="2000">
                <a:solidFill>
                  <a:srgbClr val="ECF0F1"/>
                </a:solidFill>
                <a:latin typeface="Helvetica World"/>
                <a:ea typeface="Helvetica World"/>
                <a:cs typeface="Helvetica World"/>
                <a:sym typeface="Helvetica World"/>
              </a:rPr>
              <a:t>2</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162839"/>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2671762" y="3249570"/>
            <a:ext cx="12944475" cy="3787859"/>
            <a:chOff x="0" y="0"/>
            <a:chExt cx="17259300" cy="5050479"/>
          </a:xfrm>
        </p:grpSpPr>
        <p:sp>
          <p:nvSpPr>
            <p:cNvPr id="7" name="TextBox 7"/>
            <p:cNvSpPr txBox="1"/>
            <p:nvPr/>
          </p:nvSpPr>
          <p:spPr>
            <a:xfrm>
              <a:off x="0" y="-85725"/>
              <a:ext cx="17259300" cy="1702858"/>
            </a:xfrm>
            <a:prstGeom prst="rect">
              <a:avLst/>
            </a:prstGeom>
          </p:spPr>
          <p:txBody>
            <a:bodyPr lIns="0" tIns="0" rIns="0" bIns="0" rtlCol="0" anchor="t">
              <a:spAutoFit/>
            </a:bodyPr>
            <a:lstStyle/>
            <a:p>
              <a:pPr marL="0" lvl="0" indent="0" algn="ctr">
                <a:lnSpc>
                  <a:spcPts val="10400"/>
                </a:lnSpc>
              </a:pPr>
              <a:r>
                <a:rPr lang="en-US" sz="8000" spc="-240">
                  <a:solidFill>
                    <a:srgbClr val="ECF0F1"/>
                  </a:solidFill>
                  <a:latin typeface="Georgia Pro Condensed"/>
                  <a:ea typeface="Georgia Pro Condensed"/>
                  <a:cs typeface="Georgia Pro Condensed"/>
                  <a:sym typeface="Georgia Pro Condensed"/>
                </a:rPr>
                <a:t>Objectifs du projet</a:t>
              </a:r>
            </a:p>
          </p:txBody>
        </p:sp>
        <p:sp>
          <p:nvSpPr>
            <p:cNvPr id="8" name="TextBox 8"/>
            <p:cNvSpPr txBox="1"/>
            <p:nvPr/>
          </p:nvSpPr>
          <p:spPr>
            <a:xfrm>
              <a:off x="0" y="2187687"/>
              <a:ext cx="17259300" cy="568325"/>
            </a:xfrm>
            <a:prstGeom prst="rect">
              <a:avLst/>
            </a:prstGeom>
          </p:spPr>
          <p:txBody>
            <a:bodyPr lIns="0" tIns="0" rIns="0" bIns="0" rtlCol="0" anchor="t">
              <a:spAutoFit/>
            </a:bodyPr>
            <a:lstStyle/>
            <a:p>
              <a:pPr marL="0" lvl="0" indent="0" algn="ctr">
                <a:lnSpc>
                  <a:spcPts val="3000"/>
                </a:lnSpc>
                <a:spcBef>
                  <a:spcPct val="0"/>
                </a:spcBef>
              </a:pPr>
              <a:r>
                <a:rPr lang="en-US" sz="2500" b="1" spc="-37">
                  <a:solidFill>
                    <a:srgbClr val="ECF0F1"/>
                  </a:solidFill>
                  <a:latin typeface="Helvetica World Bold"/>
                  <a:ea typeface="Helvetica World Bold"/>
                  <a:cs typeface="Helvetica World Bold"/>
                  <a:sym typeface="Helvetica World Bold"/>
                </a:rPr>
                <a:t>Gestion optimisée des actifs numériques</a:t>
              </a:r>
            </a:p>
          </p:txBody>
        </p:sp>
        <p:sp>
          <p:nvSpPr>
            <p:cNvPr id="9" name="TextBox 9"/>
            <p:cNvSpPr txBox="1"/>
            <p:nvPr/>
          </p:nvSpPr>
          <p:spPr>
            <a:xfrm>
              <a:off x="2154805" y="3292587"/>
              <a:ext cx="13512134" cy="1757892"/>
            </a:xfrm>
            <a:prstGeom prst="rect">
              <a:avLst/>
            </a:prstGeom>
          </p:spPr>
          <p:txBody>
            <a:bodyPr lIns="0" tIns="0" rIns="0" bIns="0" rtlCol="0" anchor="t">
              <a:spAutoFit/>
            </a:bodyPr>
            <a:lstStyle/>
            <a:p>
              <a:pPr marL="0" lvl="0" indent="0" algn="ctr">
                <a:lnSpc>
                  <a:spcPts val="3499"/>
                </a:lnSpc>
              </a:pPr>
              <a:r>
                <a:rPr lang="en-US" sz="2499" spc="-37">
                  <a:solidFill>
                    <a:srgbClr val="ECF0F1"/>
                  </a:solidFill>
                  <a:latin typeface="Helvetica World"/>
                  <a:ea typeface="Helvetica World"/>
                  <a:cs typeface="Helvetica World"/>
                  <a:sym typeface="Helvetica World"/>
                </a:rPr>
                <a:t>CryptoFolio vise à offrir une </a:t>
              </a:r>
              <a:r>
                <a:rPr lang="en-US" sz="2499" b="1" spc="-37">
                  <a:solidFill>
                    <a:srgbClr val="ECF0F1"/>
                  </a:solidFill>
                  <a:latin typeface="Helvetica World Bold"/>
                  <a:ea typeface="Helvetica World Bold"/>
                  <a:cs typeface="Helvetica World Bold"/>
                  <a:sym typeface="Helvetica World Bold"/>
                </a:rPr>
                <a:t>navigation fluide</a:t>
              </a:r>
              <a:r>
                <a:rPr lang="en-US" sz="2499" spc="-37">
                  <a:solidFill>
                    <a:srgbClr val="ECF0F1"/>
                  </a:solidFill>
                  <a:latin typeface="Helvetica World"/>
                  <a:ea typeface="Helvetica World"/>
                  <a:cs typeface="Helvetica World"/>
                  <a:sym typeface="Helvetica World"/>
                </a:rPr>
                <a:t> pour gérer les actifs crypto. Avec une persistance des données via le stockage local, l'utilisateur peut facilement ajouter, modifier ou supprimer des cryptomonnaies.</a:t>
              </a:r>
            </a:p>
          </p:txBody>
        </p:sp>
      </p:grpSp>
      <p:sp>
        <p:nvSpPr>
          <p:cNvPr id="10" name="Freeform 10"/>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sp>
        <p:nvSpPr>
          <p:cNvPr id="2" name="TextBox 2"/>
          <p:cNvSpPr txBox="1"/>
          <p:nvPr/>
        </p:nvSpPr>
        <p:spPr>
          <a:xfrm>
            <a:off x="17259300" y="9201150"/>
            <a:ext cx="152400" cy="209550"/>
          </a:xfrm>
          <a:prstGeom prst="rect">
            <a:avLst/>
          </a:prstGeom>
        </p:spPr>
        <p:txBody>
          <a:bodyPr wrap="none" lIns="0" tIns="0" rIns="0" bIns="0" rtlCol="0" anchor="t">
            <a:spAutoFit/>
          </a:bodyPr>
          <a:lstStyle/>
          <a:p>
            <a:pPr algn="ctr">
              <a:lnSpc>
                <a:spcPts val="2800"/>
              </a:lnSpc>
              <a:spcBef>
                <a:spcPct val="0"/>
              </a:spcBef>
            </a:pPr>
            <a:r>
              <a:rPr lang="en-US" sz="2000">
                <a:solidFill>
                  <a:srgbClr val="ECF0F1"/>
                </a:solidFill>
                <a:latin typeface="Helvetica World"/>
                <a:ea typeface="Helvetica World"/>
                <a:cs typeface="Helvetica World"/>
                <a:sym typeface="Helvetica World"/>
              </a:rPr>
              <a:t>3</a:t>
            </a:r>
          </a:p>
        </p:txBody>
      </p:sp>
      <p:grpSp>
        <p:nvGrpSpPr>
          <p:cNvPr id="3" name="Group 3"/>
          <p:cNvGrpSpPr/>
          <p:nvPr/>
        </p:nvGrpSpPr>
        <p:grpSpPr>
          <a:xfrm>
            <a:off x="666750" y="666750"/>
            <a:ext cx="16954500" cy="8953500"/>
            <a:chOff x="0" y="0"/>
            <a:chExt cx="4465383" cy="2358123"/>
          </a:xfrm>
        </p:grpSpPr>
        <p:sp>
          <p:nvSpPr>
            <p:cNvPr id="4" name="Freeform 4"/>
            <p:cNvSpPr/>
            <p:nvPr/>
          </p:nvSpPr>
          <p:spPr>
            <a:xfrm>
              <a:off x="0" y="0"/>
              <a:ext cx="4465383" cy="2358124"/>
            </a:xfrm>
            <a:custGeom>
              <a:avLst/>
              <a:gdLst/>
              <a:ahLst/>
              <a:cxnLst/>
              <a:rect l="l" t="t" r="r" b="b"/>
              <a:pathLst>
                <a:path w="4465383" h="2358124">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4C6177"/>
            </a:solidFill>
            <a:ln cap="rnd">
              <a:noFill/>
              <a:prstDash val="solid"/>
              <a:round/>
            </a:ln>
          </p:spPr>
        </p:sp>
        <p:sp>
          <p:nvSpPr>
            <p:cNvPr id="5" name="TextBox 5"/>
            <p:cNvSpPr txBox="1"/>
            <p:nvPr/>
          </p:nvSpPr>
          <p:spPr>
            <a:xfrm>
              <a:off x="0" y="-57150"/>
              <a:ext cx="4465383" cy="2415273"/>
            </a:xfrm>
            <a:prstGeom prst="rect">
              <a:avLst/>
            </a:prstGeom>
          </p:spPr>
          <p:txBody>
            <a:bodyPr lIns="50800" tIns="50800" rIns="50800" bIns="50800" rtlCol="0" anchor="ctr"/>
            <a:lstStyle/>
            <a:p>
              <a:pPr marL="0" lvl="0" indent="0" algn="ctr">
                <a:lnSpc>
                  <a:spcPts val="3359"/>
                </a:lnSpc>
                <a:spcBef>
                  <a:spcPct val="0"/>
                </a:spcBef>
              </a:pPr>
              <a:endParaRPr/>
            </a:p>
          </p:txBody>
        </p:sp>
      </p:grpSp>
      <p:grpSp>
        <p:nvGrpSpPr>
          <p:cNvPr id="6" name="Group 6"/>
          <p:cNvGrpSpPr/>
          <p:nvPr/>
        </p:nvGrpSpPr>
        <p:grpSpPr>
          <a:xfrm>
            <a:off x="1800225" y="1562100"/>
            <a:ext cx="13249275" cy="2067009"/>
            <a:chOff x="0" y="0"/>
            <a:chExt cx="17665700" cy="2756012"/>
          </a:xfrm>
        </p:grpSpPr>
        <p:sp>
          <p:nvSpPr>
            <p:cNvPr id="7" name="TextBox 7"/>
            <p:cNvSpPr txBox="1"/>
            <p:nvPr/>
          </p:nvSpPr>
          <p:spPr>
            <a:xfrm>
              <a:off x="0" y="-85725"/>
              <a:ext cx="17665700" cy="1702858"/>
            </a:xfrm>
            <a:prstGeom prst="rect">
              <a:avLst/>
            </a:prstGeom>
          </p:spPr>
          <p:txBody>
            <a:bodyPr lIns="0" tIns="0" rIns="0" bIns="0" rtlCol="0" anchor="t">
              <a:spAutoFit/>
            </a:bodyPr>
            <a:lstStyle/>
            <a:p>
              <a:pPr marL="0" lvl="0" indent="0" algn="l">
                <a:lnSpc>
                  <a:spcPts val="10400"/>
                </a:lnSpc>
              </a:pPr>
              <a:r>
                <a:rPr lang="en-US" sz="8000" spc="-240">
                  <a:solidFill>
                    <a:srgbClr val="ECF0F1"/>
                  </a:solidFill>
                  <a:latin typeface="Georgia Pro Condensed"/>
                  <a:ea typeface="Georgia Pro Condensed"/>
                  <a:cs typeface="Georgia Pro Condensed"/>
                  <a:sym typeface="Georgia Pro Condensed"/>
                </a:rPr>
                <a:t>Structure de l'application</a:t>
              </a:r>
            </a:p>
          </p:txBody>
        </p:sp>
        <p:sp>
          <p:nvSpPr>
            <p:cNvPr id="8" name="TextBox 8"/>
            <p:cNvSpPr txBox="1"/>
            <p:nvPr/>
          </p:nvSpPr>
          <p:spPr>
            <a:xfrm>
              <a:off x="0" y="2187687"/>
              <a:ext cx="17665700" cy="568325"/>
            </a:xfrm>
            <a:prstGeom prst="rect">
              <a:avLst/>
            </a:prstGeom>
          </p:spPr>
          <p:txBody>
            <a:bodyPr lIns="0" tIns="0" rIns="0" bIns="0" rtlCol="0" anchor="t">
              <a:spAutoFit/>
            </a:bodyPr>
            <a:lstStyle/>
            <a:p>
              <a:pPr marL="0" lvl="0" indent="0" algn="l">
                <a:lnSpc>
                  <a:spcPts val="3000"/>
                </a:lnSpc>
                <a:spcBef>
                  <a:spcPct val="0"/>
                </a:spcBef>
              </a:pPr>
              <a:r>
                <a:rPr lang="en-US" sz="2500" b="1" spc="-37">
                  <a:solidFill>
                    <a:srgbClr val="ECF0F1"/>
                  </a:solidFill>
                  <a:latin typeface="Helvetica World Bold"/>
                  <a:ea typeface="Helvetica World Bold"/>
                  <a:cs typeface="Helvetica World Bold"/>
                  <a:sym typeface="Helvetica World Bold"/>
                </a:rPr>
                <a:t>Modules principaux de CryptoFolio</a:t>
              </a:r>
            </a:p>
          </p:txBody>
        </p:sp>
      </p:grpSp>
      <p:grpSp>
        <p:nvGrpSpPr>
          <p:cNvPr id="9" name="Group 9"/>
          <p:cNvGrpSpPr/>
          <p:nvPr/>
        </p:nvGrpSpPr>
        <p:grpSpPr>
          <a:xfrm>
            <a:off x="1800225" y="5143500"/>
            <a:ext cx="4308497" cy="2901950"/>
            <a:chOff x="0" y="0"/>
            <a:chExt cx="5744662" cy="3869267"/>
          </a:xfrm>
        </p:grpSpPr>
        <p:sp>
          <p:nvSpPr>
            <p:cNvPr id="10" name="TextBox 10"/>
            <p:cNvSpPr txBox="1"/>
            <p:nvPr/>
          </p:nvSpPr>
          <p:spPr>
            <a:xfrm>
              <a:off x="0" y="0"/>
              <a:ext cx="5744662" cy="5334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ECF0F1"/>
                  </a:solidFill>
                  <a:latin typeface="Helvetica World Bold"/>
                  <a:ea typeface="Helvetica World Bold"/>
                  <a:cs typeface="Helvetica World Bold"/>
                  <a:sym typeface="Helvetica World Bold"/>
                </a:rPr>
                <a:t>Dashboard</a:t>
              </a:r>
            </a:p>
          </p:txBody>
        </p:sp>
        <p:sp>
          <p:nvSpPr>
            <p:cNvPr id="11" name="TextBox 11"/>
            <p:cNvSpPr txBox="1"/>
            <p:nvPr/>
          </p:nvSpPr>
          <p:spPr>
            <a:xfrm>
              <a:off x="0" y="1060450"/>
              <a:ext cx="5744662" cy="2808817"/>
            </a:xfrm>
            <a:prstGeom prst="rect">
              <a:avLst/>
            </a:prstGeom>
          </p:spPr>
          <p:txBody>
            <a:bodyPr lIns="0" tIns="0" rIns="0" bIns="0" rtlCol="0" anchor="t">
              <a:spAutoFit/>
            </a:bodyPr>
            <a:lstStyle/>
            <a:p>
              <a:pPr marL="0" lvl="0" indent="0" algn="l">
                <a:lnSpc>
                  <a:spcPts val="2800"/>
                </a:lnSpc>
              </a:pPr>
              <a:r>
                <a:rPr lang="en-US" sz="2000" u="none" strike="noStrike" spc="-30">
                  <a:solidFill>
                    <a:srgbClr val="ECF0F1"/>
                  </a:solidFill>
                  <a:latin typeface="Helvetica World"/>
                  <a:ea typeface="Helvetica World"/>
                  <a:cs typeface="Helvetica World"/>
                  <a:sym typeface="Helvetica World"/>
                </a:rPr>
                <a:t>Le tableau de bord offre une vue d'ensemble instantanée des performances des actifs, incluant des graphiques dynamiques pour visualiser les investissements et les tendances de portefeuille.</a:t>
              </a:r>
            </a:p>
          </p:txBody>
        </p:sp>
      </p:grpSp>
      <p:grpSp>
        <p:nvGrpSpPr>
          <p:cNvPr id="12" name="Group 12"/>
          <p:cNvGrpSpPr/>
          <p:nvPr/>
        </p:nvGrpSpPr>
        <p:grpSpPr>
          <a:xfrm>
            <a:off x="7291388" y="5143500"/>
            <a:ext cx="4010025" cy="2911475"/>
            <a:chOff x="0" y="0"/>
            <a:chExt cx="5346700" cy="3881967"/>
          </a:xfrm>
        </p:grpSpPr>
        <p:sp>
          <p:nvSpPr>
            <p:cNvPr id="13" name="TextBox 13"/>
            <p:cNvSpPr txBox="1"/>
            <p:nvPr/>
          </p:nvSpPr>
          <p:spPr>
            <a:xfrm>
              <a:off x="0" y="0"/>
              <a:ext cx="5346700" cy="5461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ECF0F1"/>
                  </a:solidFill>
                  <a:latin typeface="Helvetica World Bold"/>
                  <a:ea typeface="Helvetica World Bold"/>
                  <a:cs typeface="Helvetica World Bold"/>
                  <a:sym typeface="Helvetica World Bold"/>
                </a:rPr>
                <a:t>Module Actifs Crypto</a:t>
              </a:r>
            </a:p>
          </p:txBody>
        </p:sp>
        <p:sp>
          <p:nvSpPr>
            <p:cNvPr id="14" name="TextBox 14"/>
            <p:cNvSpPr txBox="1"/>
            <p:nvPr/>
          </p:nvSpPr>
          <p:spPr>
            <a:xfrm>
              <a:off x="0" y="1073150"/>
              <a:ext cx="5346700" cy="2808817"/>
            </a:xfrm>
            <a:prstGeom prst="rect">
              <a:avLst/>
            </a:prstGeom>
          </p:spPr>
          <p:txBody>
            <a:bodyPr lIns="0" tIns="0" rIns="0" bIns="0" rtlCol="0" anchor="t">
              <a:spAutoFit/>
            </a:bodyPr>
            <a:lstStyle/>
            <a:p>
              <a:pPr marL="0" lvl="0" indent="0" algn="l">
                <a:lnSpc>
                  <a:spcPts val="2800"/>
                </a:lnSpc>
              </a:pPr>
              <a:r>
                <a:rPr lang="en-US" sz="2000" u="none" strike="noStrike" spc="-30">
                  <a:solidFill>
                    <a:srgbClr val="ECF0F1"/>
                  </a:solidFill>
                  <a:latin typeface="Helvetica World"/>
                  <a:ea typeface="Helvetica World"/>
                  <a:cs typeface="Helvetica World"/>
                  <a:sym typeface="Helvetica World"/>
                </a:rPr>
                <a:t>Ce module permet aux utilisateurs d'ajouter, de modifier et de supprimer des actifs avec confirmation, tout en offrant des options de recherche et de tri dynamiques pour une gestion efficace.</a:t>
              </a:r>
            </a:p>
          </p:txBody>
        </p:sp>
      </p:grpSp>
      <p:grpSp>
        <p:nvGrpSpPr>
          <p:cNvPr id="15" name="Group 15"/>
          <p:cNvGrpSpPr/>
          <p:nvPr/>
        </p:nvGrpSpPr>
        <p:grpSpPr>
          <a:xfrm>
            <a:off x="12172950" y="5143500"/>
            <a:ext cx="4010025" cy="2911475"/>
            <a:chOff x="0" y="0"/>
            <a:chExt cx="5346700" cy="3881967"/>
          </a:xfrm>
        </p:grpSpPr>
        <p:sp>
          <p:nvSpPr>
            <p:cNvPr id="16" name="TextBox 16"/>
            <p:cNvSpPr txBox="1"/>
            <p:nvPr/>
          </p:nvSpPr>
          <p:spPr>
            <a:xfrm>
              <a:off x="0" y="0"/>
              <a:ext cx="5346700" cy="546100"/>
            </a:xfrm>
            <a:prstGeom prst="rect">
              <a:avLst/>
            </a:prstGeom>
          </p:spPr>
          <p:txBody>
            <a:bodyPr lIns="0" tIns="0" rIns="0" bIns="0" rtlCol="0" anchor="t">
              <a:spAutoFit/>
            </a:bodyPr>
            <a:lstStyle/>
            <a:p>
              <a:pPr marL="0" lvl="0" indent="0" algn="l">
                <a:lnSpc>
                  <a:spcPts val="2999"/>
                </a:lnSpc>
                <a:spcBef>
                  <a:spcPct val="0"/>
                </a:spcBef>
              </a:pPr>
              <a:r>
                <a:rPr lang="en-US" sz="2499" b="1" spc="-37">
                  <a:solidFill>
                    <a:srgbClr val="ECF0F1"/>
                  </a:solidFill>
                  <a:latin typeface="Helvetica World Bold"/>
                  <a:ea typeface="Helvetica World Bold"/>
                  <a:cs typeface="Helvetica World Bold"/>
                  <a:sym typeface="Helvetica World Bold"/>
                </a:rPr>
                <a:t>Module Portefeuilles</a:t>
              </a:r>
            </a:p>
          </p:txBody>
        </p:sp>
        <p:sp>
          <p:nvSpPr>
            <p:cNvPr id="17" name="TextBox 17"/>
            <p:cNvSpPr txBox="1"/>
            <p:nvPr/>
          </p:nvSpPr>
          <p:spPr>
            <a:xfrm>
              <a:off x="0" y="1073150"/>
              <a:ext cx="5346700" cy="2808817"/>
            </a:xfrm>
            <a:prstGeom prst="rect">
              <a:avLst/>
            </a:prstGeom>
          </p:spPr>
          <p:txBody>
            <a:bodyPr lIns="0" tIns="0" rIns="0" bIns="0" rtlCol="0" anchor="t">
              <a:spAutoFit/>
            </a:bodyPr>
            <a:lstStyle/>
            <a:p>
              <a:pPr marL="0" lvl="0" indent="0" algn="l">
                <a:lnSpc>
                  <a:spcPts val="2800"/>
                </a:lnSpc>
              </a:pPr>
              <a:r>
                <a:rPr lang="en-US" sz="2000" u="none" strike="noStrike" spc="-30">
                  <a:solidFill>
                    <a:srgbClr val="ECF0F1"/>
                  </a:solidFill>
                  <a:latin typeface="Helvetica World"/>
                  <a:ea typeface="Helvetica World"/>
                  <a:cs typeface="Helvetica World"/>
                  <a:sym typeface="Helvetica World"/>
                </a:rPr>
                <a:t>Le module Portefeuille facilite l'ajout et la suppression de portefeuilles, permettant aux utilisateurs d'associer facilement des cryptos à leurs portefeuilles pour une organisation optimale.</a:t>
              </a:r>
            </a:p>
          </p:txBody>
        </p:sp>
      </p:grpSp>
      <p:sp>
        <p:nvSpPr>
          <p:cNvPr id="18" name="Freeform 18"/>
          <p:cNvSpPr/>
          <p:nvPr/>
        </p:nvSpPr>
        <p:spPr>
          <a:xfrm rot="-3117037">
            <a:off x="16099474" y="7952721"/>
            <a:ext cx="2112604" cy="1859092"/>
          </a:xfrm>
          <a:custGeom>
            <a:avLst/>
            <a:gdLst/>
            <a:ahLst/>
            <a:cxnLst/>
            <a:rect l="l" t="t" r="r" b="b"/>
            <a:pathLst>
              <a:path w="2112604" h="1859092">
                <a:moveTo>
                  <a:pt x="0" y="0"/>
                </a:moveTo>
                <a:lnTo>
                  <a:pt x="2112605" y="0"/>
                </a:lnTo>
                <a:lnTo>
                  <a:pt x="2112605" y="1859092"/>
                </a:lnTo>
                <a:lnTo>
                  <a:pt x="0" y="1859092"/>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4495E"/>
        </a:solidFill>
        <a:effectLst/>
      </p:bgPr>
    </p:bg>
    <p:spTree>
      <p:nvGrpSpPr>
        <p:cNvPr id="1" name=""/>
        <p:cNvGrpSpPr/>
        <p:nvPr/>
      </p:nvGrpSpPr>
      <p:grpSpPr>
        <a:xfrm>
          <a:off x="0" y="0"/>
          <a:ext cx="0" cy="0"/>
          <a:chOff x="0" y="0"/>
          <a:chExt cx="0" cy="0"/>
        </a:xfrm>
      </p:grpSpPr>
      <p:grpSp>
        <p:nvGrpSpPr>
          <p:cNvPr id="2" name="Group 2"/>
          <p:cNvGrpSpPr/>
          <p:nvPr/>
        </p:nvGrpSpPr>
        <p:grpSpPr>
          <a:xfrm>
            <a:off x="9385350" y="6387809"/>
            <a:ext cx="8689975" cy="4186755"/>
            <a:chOff x="0" y="0"/>
            <a:chExt cx="11586633" cy="5582340"/>
          </a:xfrm>
        </p:grpSpPr>
        <p:sp>
          <p:nvSpPr>
            <p:cNvPr id="3" name="Freeform 3"/>
            <p:cNvSpPr/>
            <p:nvPr/>
          </p:nvSpPr>
          <p:spPr>
            <a:xfrm>
              <a:off x="0" y="0"/>
              <a:ext cx="5689600" cy="5582340"/>
            </a:xfrm>
            <a:custGeom>
              <a:avLst/>
              <a:gdLst/>
              <a:ahLst/>
              <a:cxnLst/>
              <a:rect l="l" t="t" r="r" b="b"/>
              <a:pathLst>
                <a:path w="5689600" h="5582340">
                  <a:moveTo>
                    <a:pt x="0" y="0"/>
                  </a:moveTo>
                  <a:lnTo>
                    <a:pt x="5689600" y="0"/>
                  </a:lnTo>
                  <a:lnTo>
                    <a:pt x="5689600" y="5582340"/>
                  </a:lnTo>
                  <a:lnTo>
                    <a:pt x="0" y="5582340"/>
                  </a:lnTo>
                  <a:lnTo>
                    <a:pt x="0" y="0"/>
                  </a:lnTo>
                  <a:close/>
                </a:path>
              </a:pathLst>
            </a:custGeom>
            <a:blipFill>
              <a:blip r:embed="rId2">
                <a:extLst>
                  <a:ext uri="{96DAC541-7B7A-43D3-8B79-37D633B846F1}">
                    <asvg:svgBlip xmlns:asvg="http://schemas.microsoft.com/office/drawing/2016/SVG/main" r:embed="rId3"/>
                  </a:ext>
                </a:extLst>
              </a:blip>
              <a:stretch>
                <a:fillRect l="-11559" r="-121039"/>
              </a:stretch>
            </a:blipFill>
          </p:spPr>
        </p:sp>
        <p:sp>
          <p:nvSpPr>
            <p:cNvPr id="4" name="Freeform 4"/>
            <p:cNvSpPr/>
            <p:nvPr/>
          </p:nvSpPr>
          <p:spPr>
            <a:xfrm>
              <a:off x="5897033" y="0"/>
              <a:ext cx="5689600" cy="5582340"/>
            </a:xfrm>
            <a:custGeom>
              <a:avLst/>
              <a:gdLst/>
              <a:ahLst/>
              <a:cxnLst/>
              <a:rect l="l" t="t" r="r" b="b"/>
              <a:pathLst>
                <a:path w="5689600" h="5582340">
                  <a:moveTo>
                    <a:pt x="0" y="0"/>
                  </a:moveTo>
                  <a:lnTo>
                    <a:pt x="5689600" y="0"/>
                  </a:lnTo>
                  <a:lnTo>
                    <a:pt x="5689600" y="5582340"/>
                  </a:lnTo>
                  <a:lnTo>
                    <a:pt x="0" y="5582340"/>
                  </a:lnTo>
                  <a:lnTo>
                    <a:pt x="0" y="0"/>
                  </a:lnTo>
                  <a:close/>
                </a:path>
              </a:pathLst>
            </a:custGeom>
            <a:blipFill>
              <a:blip r:embed="rId2">
                <a:extLst>
                  <a:ext uri="{96DAC541-7B7A-43D3-8B79-37D633B846F1}">
                    <asvg:svgBlip xmlns:asvg="http://schemas.microsoft.com/office/drawing/2016/SVG/main" r:embed="rId3"/>
                  </a:ext>
                </a:extLst>
              </a:blip>
              <a:stretch>
                <a:fillRect l="-11559" r="-121039"/>
              </a:stretch>
            </a:blipFill>
          </p:spPr>
        </p:sp>
      </p:grpSp>
      <p:grpSp>
        <p:nvGrpSpPr>
          <p:cNvPr id="5" name="Group 5"/>
          <p:cNvGrpSpPr/>
          <p:nvPr/>
        </p:nvGrpSpPr>
        <p:grpSpPr>
          <a:xfrm>
            <a:off x="10737144" y="1028700"/>
            <a:ext cx="5512605" cy="8229600"/>
            <a:chOff x="0" y="0"/>
            <a:chExt cx="812800" cy="1213404"/>
          </a:xfrm>
        </p:grpSpPr>
        <p:sp>
          <p:nvSpPr>
            <p:cNvPr id="6" name="Freeform 6"/>
            <p:cNvSpPr/>
            <p:nvPr/>
          </p:nvSpPr>
          <p:spPr>
            <a:xfrm>
              <a:off x="0" y="0"/>
              <a:ext cx="812800" cy="1213404"/>
            </a:xfrm>
            <a:custGeom>
              <a:avLst/>
              <a:gdLst/>
              <a:ahLst/>
              <a:cxnLst/>
              <a:rect l="l" t="t" r="r" b="b"/>
              <a:pathLst>
                <a:path w="812800" h="1213404">
                  <a:moveTo>
                    <a:pt x="0" y="0"/>
                  </a:moveTo>
                  <a:lnTo>
                    <a:pt x="812800" y="0"/>
                  </a:lnTo>
                  <a:lnTo>
                    <a:pt x="812800" y="1213404"/>
                  </a:lnTo>
                  <a:lnTo>
                    <a:pt x="0" y="1213404"/>
                  </a:lnTo>
                  <a:close/>
                </a:path>
              </a:pathLst>
            </a:custGeom>
            <a:blipFill>
              <a:blip r:embed="rId4"/>
              <a:stretch>
                <a:fillRect l="-17365" r="-17365"/>
              </a:stretch>
            </a:blipFill>
          </p:spPr>
        </p:sp>
      </p:grpSp>
      <p:grpSp>
        <p:nvGrpSpPr>
          <p:cNvPr id="7" name="Group 7"/>
          <p:cNvGrpSpPr/>
          <p:nvPr/>
        </p:nvGrpSpPr>
        <p:grpSpPr>
          <a:xfrm>
            <a:off x="1589447" y="2107992"/>
            <a:ext cx="7366296" cy="6071016"/>
            <a:chOff x="0" y="0"/>
            <a:chExt cx="9821728" cy="8094688"/>
          </a:xfrm>
        </p:grpSpPr>
        <p:sp>
          <p:nvSpPr>
            <p:cNvPr id="8" name="TextBox 8"/>
            <p:cNvSpPr txBox="1"/>
            <p:nvPr/>
          </p:nvSpPr>
          <p:spPr>
            <a:xfrm>
              <a:off x="0" y="0"/>
              <a:ext cx="9821728" cy="4229100"/>
            </a:xfrm>
            <a:prstGeom prst="rect">
              <a:avLst/>
            </a:prstGeom>
          </p:spPr>
          <p:txBody>
            <a:bodyPr lIns="0" tIns="0" rIns="0" bIns="0" rtlCol="0" anchor="t">
              <a:spAutoFit/>
            </a:bodyPr>
            <a:lstStyle/>
            <a:p>
              <a:pPr marL="0" lvl="0" indent="0" algn="l">
                <a:lnSpc>
                  <a:spcPts val="8399"/>
                </a:lnSpc>
              </a:pPr>
              <a:r>
                <a:rPr lang="en-US" sz="6999" strike="noStrike">
                  <a:solidFill>
                    <a:srgbClr val="ECF0F1"/>
                  </a:solidFill>
                  <a:latin typeface="Georgia Pro Condensed"/>
                  <a:ea typeface="Georgia Pro Condensed"/>
                  <a:cs typeface="Georgia Pro Condensed"/>
                  <a:sym typeface="Georgia Pro Condensed"/>
                </a:rPr>
                <a:t>Module des Actifs Crypto</a:t>
              </a:r>
            </a:p>
            <a:p>
              <a:pPr marL="0" lvl="0" indent="0" algn="l">
                <a:lnSpc>
                  <a:spcPts val="8399"/>
                </a:lnSpc>
              </a:pPr>
              <a:endParaRPr lang="en-US" sz="6999" strike="noStrike">
                <a:solidFill>
                  <a:srgbClr val="ECF0F1"/>
                </a:solidFill>
                <a:latin typeface="Georgia Pro Condensed"/>
                <a:ea typeface="Georgia Pro Condensed"/>
                <a:cs typeface="Georgia Pro Condensed"/>
                <a:sym typeface="Georgia Pro Condensed"/>
              </a:endParaRPr>
            </a:p>
          </p:txBody>
        </p:sp>
        <p:sp>
          <p:nvSpPr>
            <p:cNvPr id="9" name="TextBox 9"/>
            <p:cNvSpPr txBox="1"/>
            <p:nvPr/>
          </p:nvSpPr>
          <p:spPr>
            <a:xfrm>
              <a:off x="0" y="4618274"/>
              <a:ext cx="9821728" cy="3476413"/>
            </a:xfrm>
            <a:prstGeom prst="rect">
              <a:avLst/>
            </a:prstGeom>
          </p:spPr>
          <p:txBody>
            <a:bodyPr lIns="0" tIns="0" rIns="0" bIns="0" rtlCol="0" anchor="t">
              <a:spAutoFit/>
            </a:bodyPr>
            <a:lstStyle/>
            <a:p>
              <a:pPr marL="0" lvl="0" indent="0" algn="l">
                <a:lnSpc>
                  <a:spcPts val="4160"/>
                </a:lnSpc>
              </a:pPr>
              <a:r>
                <a:rPr lang="en-US" sz="3200" strike="noStrike" spc="-48">
                  <a:solidFill>
                    <a:srgbClr val="ECF0F1"/>
                  </a:solidFill>
                  <a:latin typeface="Helvetica World"/>
                  <a:ea typeface="Helvetica World"/>
                  <a:cs typeface="Helvetica World"/>
                  <a:sym typeface="Helvetica World"/>
                </a:rPr>
                <a:t>Le module des actifs crypto permet d'ajouter, de modifier et de supprimer des cryptomonnaies avec confirmation, tout en offrant une recherche dynamique et un tri des actifs pour une gestion efficace.</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9385350" y="6387809"/>
            <a:ext cx="8689975" cy="4186755"/>
            <a:chOff x="0" y="0"/>
            <a:chExt cx="11586633" cy="5582340"/>
          </a:xfrm>
        </p:grpSpPr>
        <p:sp>
          <p:nvSpPr>
            <p:cNvPr id="3" name="Freeform 3"/>
            <p:cNvSpPr/>
            <p:nvPr/>
          </p:nvSpPr>
          <p:spPr>
            <a:xfrm>
              <a:off x="0" y="0"/>
              <a:ext cx="5689600" cy="5582340"/>
            </a:xfrm>
            <a:custGeom>
              <a:avLst/>
              <a:gdLst/>
              <a:ahLst/>
              <a:cxnLst/>
              <a:rect l="l" t="t" r="r" b="b"/>
              <a:pathLst>
                <a:path w="5689600" h="5582340">
                  <a:moveTo>
                    <a:pt x="0" y="0"/>
                  </a:moveTo>
                  <a:lnTo>
                    <a:pt x="5689600" y="0"/>
                  </a:lnTo>
                  <a:lnTo>
                    <a:pt x="5689600" y="5582340"/>
                  </a:lnTo>
                  <a:lnTo>
                    <a:pt x="0" y="5582340"/>
                  </a:lnTo>
                  <a:lnTo>
                    <a:pt x="0" y="0"/>
                  </a:lnTo>
                  <a:close/>
                </a:path>
              </a:pathLst>
            </a:custGeom>
            <a:blipFill>
              <a:blip r:embed="rId2">
                <a:extLst>
                  <a:ext uri="{96DAC541-7B7A-43D3-8B79-37D633B846F1}">
                    <asvg:svgBlip xmlns:asvg="http://schemas.microsoft.com/office/drawing/2016/SVG/main" r:embed="rId3"/>
                  </a:ext>
                </a:extLst>
              </a:blip>
              <a:stretch>
                <a:fillRect l="-11559" r="-121039"/>
              </a:stretch>
            </a:blipFill>
          </p:spPr>
        </p:sp>
        <p:sp>
          <p:nvSpPr>
            <p:cNvPr id="4" name="Freeform 4"/>
            <p:cNvSpPr/>
            <p:nvPr/>
          </p:nvSpPr>
          <p:spPr>
            <a:xfrm>
              <a:off x="5897033" y="0"/>
              <a:ext cx="5689600" cy="5582340"/>
            </a:xfrm>
            <a:custGeom>
              <a:avLst/>
              <a:gdLst/>
              <a:ahLst/>
              <a:cxnLst/>
              <a:rect l="l" t="t" r="r" b="b"/>
              <a:pathLst>
                <a:path w="5689600" h="5582340">
                  <a:moveTo>
                    <a:pt x="0" y="0"/>
                  </a:moveTo>
                  <a:lnTo>
                    <a:pt x="5689600" y="0"/>
                  </a:lnTo>
                  <a:lnTo>
                    <a:pt x="5689600" y="5582340"/>
                  </a:lnTo>
                  <a:lnTo>
                    <a:pt x="0" y="5582340"/>
                  </a:lnTo>
                  <a:lnTo>
                    <a:pt x="0" y="0"/>
                  </a:lnTo>
                  <a:close/>
                </a:path>
              </a:pathLst>
            </a:custGeom>
            <a:blipFill>
              <a:blip r:embed="rId2">
                <a:extLst>
                  <a:ext uri="{96DAC541-7B7A-43D3-8B79-37D633B846F1}">
                    <asvg:svgBlip xmlns:asvg="http://schemas.microsoft.com/office/drawing/2016/SVG/main" r:embed="rId3"/>
                  </a:ext>
                </a:extLst>
              </a:blip>
              <a:stretch>
                <a:fillRect l="-11559" r="-121039"/>
              </a:stretch>
            </a:blipFill>
          </p:spPr>
        </p:sp>
      </p:grpSp>
      <p:grpSp>
        <p:nvGrpSpPr>
          <p:cNvPr id="5" name="Group 5"/>
          <p:cNvGrpSpPr/>
          <p:nvPr/>
        </p:nvGrpSpPr>
        <p:grpSpPr>
          <a:xfrm>
            <a:off x="10737144" y="1028700"/>
            <a:ext cx="5512605" cy="8229600"/>
            <a:chOff x="0" y="0"/>
            <a:chExt cx="812800" cy="1213404"/>
          </a:xfrm>
        </p:grpSpPr>
        <p:sp>
          <p:nvSpPr>
            <p:cNvPr id="6" name="Freeform 6"/>
            <p:cNvSpPr/>
            <p:nvPr/>
          </p:nvSpPr>
          <p:spPr>
            <a:xfrm>
              <a:off x="0" y="0"/>
              <a:ext cx="812800" cy="1213404"/>
            </a:xfrm>
            <a:custGeom>
              <a:avLst/>
              <a:gdLst/>
              <a:ahLst/>
              <a:cxnLst/>
              <a:rect l="l" t="t" r="r" b="b"/>
              <a:pathLst>
                <a:path w="812800" h="1213404">
                  <a:moveTo>
                    <a:pt x="0" y="0"/>
                  </a:moveTo>
                  <a:lnTo>
                    <a:pt x="812800" y="0"/>
                  </a:lnTo>
                  <a:lnTo>
                    <a:pt x="812800" y="1213404"/>
                  </a:lnTo>
                  <a:lnTo>
                    <a:pt x="0" y="1213404"/>
                  </a:lnTo>
                  <a:close/>
                </a:path>
              </a:pathLst>
            </a:custGeom>
            <a:blipFill>
              <a:blip r:embed="rId4"/>
              <a:stretch>
                <a:fillRect l="-17365" r="-17365"/>
              </a:stretch>
            </a:blipFill>
          </p:spPr>
        </p:sp>
      </p:grpSp>
      <p:grpSp>
        <p:nvGrpSpPr>
          <p:cNvPr id="7" name="Group 7"/>
          <p:cNvGrpSpPr/>
          <p:nvPr/>
        </p:nvGrpSpPr>
        <p:grpSpPr>
          <a:xfrm>
            <a:off x="1589447" y="1317417"/>
            <a:ext cx="7366296" cy="7652166"/>
            <a:chOff x="0" y="0"/>
            <a:chExt cx="9821728" cy="10202888"/>
          </a:xfrm>
        </p:grpSpPr>
        <p:sp>
          <p:nvSpPr>
            <p:cNvPr id="8" name="TextBox 8"/>
            <p:cNvSpPr txBox="1"/>
            <p:nvPr/>
          </p:nvSpPr>
          <p:spPr>
            <a:xfrm>
              <a:off x="0" y="0"/>
              <a:ext cx="9821728" cy="5638800"/>
            </a:xfrm>
            <a:prstGeom prst="rect">
              <a:avLst/>
            </a:prstGeom>
          </p:spPr>
          <p:txBody>
            <a:bodyPr lIns="0" tIns="0" rIns="0" bIns="0" rtlCol="0" anchor="t">
              <a:spAutoFit/>
            </a:bodyPr>
            <a:lstStyle/>
            <a:p>
              <a:pPr marL="0" lvl="0" indent="0" algn="l">
                <a:lnSpc>
                  <a:spcPts val="8399"/>
                </a:lnSpc>
              </a:pPr>
              <a:r>
                <a:rPr lang="en-US" sz="6999" strike="noStrike">
                  <a:solidFill>
                    <a:srgbClr val="ECF0F1"/>
                  </a:solidFill>
                  <a:latin typeface="Georgia Pro Condensed"/>
                  <a:ea typeface="Georgia Pro Condensed"/>
                  <a:cs typeface="Georgia Pro Condensed"/>
                  <a:sym typeface="Georgia Pro Condensed"/>
                </a:rPr>
                <a:t>Gestion des portefeuilles de cryptomonnaies</a:t>
              </a:r>
            </a:p>
            <a:p>
              <a:pPr marL="0" lvl="0" indent="0" algn="l">
                <a:lnSpc>
                  <a:spcPts val="8399"/>
                </a:lnSpc>
              </a:pPr>
              <a:endParaRPr lang="en-US" sz="6999" strike="noStrike">
                <a:solidFill>
                  <a:srgbClr val="ECF0F1"/>
                </a:solidFill>
                <a:latin typeface="Georgia Pro Condensed"/>
                <a:ea typeface="Georgia Pro Condensed"/>
                <a:cs typeface="Georgia Pro Condensed"/>
                <a:sym typeface="Georgia Pro Condensed"/>
              </a:endParaRPr>
            </a:p>
          </p:txBody>
        </p:sp>
        <p:sp>
          <p:nvSpPr>
            <p:cNvPr id="9" name="TextBox 9"/>
            <p:cNvSpPr txBox="1"/>
            <p:nvPr/>
          </p:nvSpPr>
          <p:spPr>
            <a:xfrm>
              <a:off x="0" y="6027974"/>
              <a:ext cx="9821728" cy="4174913"/>
            </a:xfrm>
            <a:prstGeom prst="rect">
              <a:avLst/>
            </a:prstGeom>
          </p:spPr>
          <p:txBody>
            <a:bodyPr lIns="0" tIns="0" rIns="0" bIns="0" rtlCol="0" anchor="t">
              <a:spAutoFit/>
            </a:bodyPr>
            <a:lstStyle/>
            <a:p>
              <a:pPr marL="0" lvl="0" indent="0" algn="l">
                <a:lnSpc>
                  <a:spcPts val="4160"/>
                </a:lnSpc>
              </a:pPr>
              <a:r>
                <a:rPr lang="en-US" sz="3200" strike="noStrike" spc="-48">
                  <a:solidFill>
                    <a:srgbClr val="ECF0F1"/>
                  </a:solidFill>
                  <a:latin typeface="Helvetica World"/>
                  <a:ea typeface="Helvetica World"/>
                  <a:cs typeface="Helvetica World"/>
                  <a:sym typeface="Helvetica World"/>
                </a:rPr>
                <a:t>Le module Portefeuille permet d’ajouter et de supprimer facilement des portefeuilles, tout en associant des cryptomonnaies à chaque portefeuille, garantissant ainsi une organisation efficace et claire des actifs numériques.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4495E"/>
        </a:solidFill>
        <a:effectLst/>
      </p:bgPr>
    </p:bg>
    <p:spTree>
      <p:nvGrpSpPr>
        <p:cNvPr id="1" name=""/>
        <p:cNvGrpSpPr/>
        <p:nvPr/>
      </p:nvGrpSpPr>
      <p:grpSpPr>
        <a:xfrm>
          <a:off x="0" y="0"/>
          <a:ext cx="0" cy="0"/>
          <a:chOff x="0" y="0"/>
          <a:chExt cx="0" cy="0"/>
        </a:xfrm>
      </p:grpSpPr>
      <p:grpSp>
        <p:nvGrpSpPr>
          <p:cNvPr id="2" name="Group 2"/>
          <p:cNvGrpSpPr/>
          <p:nvPr/>
        </p:nvGrpSpPr>
        <p:grpSpPr>
          <a:xfrm>
            <a:off x="9385350" y="6387809"/>
            <a:ext cx="8689975" cy="4186755"/>
            <a:chOff x="0" y="0"/>
            <a:chExt cx="11586633" cy="5582340"/>
          </a:xfrm>
        </p:grpSpPr>
        <p:sp>
          <p:nvSpPr>
            <p:cNvPr id="3" name="Freeform 3"/>
            <p:cNvSpPr/>
            <p:nvPr/>
          </p:nvSpPr>
          <p:spPr>
            <a:xfrm>
              <a:off x="0" y="0"/>
              <a:ext cx="5689600" cy="5582340"/>
            </a:xfrm>
            <a:custGeom>
              <a:avLst/>
              <a:gdLst/>
              <a:ahLst/>
              <a:cxnLst/>
              <a:rect l="l" t="t" r="r" b="b"/>
              <a:pathLst>
                <a:path w="5689600" h="5582340">
                  <a:moveTo>
                    <a:pt x="0" y="0"/>
                  </a:moveTo>
                  <a:lnTo>
                    <a:pt x="5689600" y="0"/>
                  </a:lnTo>
                  <a:lnTo>
                    <a:pt x="5689600" y="5582340"/>
                  </a:lnTo>
                  <a:lnTo>
                    <a:pt x="0" y="5582340"/>
                  </a:lnTo>
                  <a:lnTo>
                    <a:pt x="0" y="0"/>
                  </a:lnTo>
                  <a:close/>
                </a:path>
              </a:pathLst>
            </a:custGeom>
            <a:blipFill>
              <a:blip r:embed="rId2">
                <a:extLst>
                  <a:ext uri="{96DAC541-7B7A-43D3-8B79-37D633B846F1}">
                    <asvg:svgBlip xmlns:asvg="http://schemas.microsoft.com/office/drawing/2016/SVG/main" r:embed="rId3"/>
                  </a:ext>
                </a:extLst>
              </a:blip>
              <a:stretch>
                <a:fillRect l="-11559" r="-121039"/>
              </a:stretch>
            </a:blipFill>
          </p:spPr>
        </p:sp>
        <p:sp>
          <p:nvSpPr>
            <p:cNvPr id="4" name="Freeform 4"/>
            <p:cNvSpPr/>
            <p:nvPr/>
          </p:nvSpPr>
          <p:spPr>
            <a:xfrm>
              <a:off x="5897033" y="0"/>
              <a:ext cx="5689600" cy="5582340"/>
            </a:xfrm>
            <a:custGeom>
              <a:avLst/>
              <a:gdLst/>
              <a:ahLst/>
              <a:cxnLst/>
              <a:rect l="l" t="t" r="r" b="b"/>
              <a:pathLst>
                <a:path w="5689600" h="5582340">
                  <a:moveTo>
                    <a:pt x="0" y="0"/>
                  </a:moveTo>
                  <a:lnTo>
                    <a:pt x="5689600" y="0"/>
                  </a:lnTo>
                  <a:lnTo>
                    <a:pt x="5689600" y="5582340"/>
                  </a:lnTo>
                  <a:lnTo>
                    <a:pt x="0" y="5582340"/>
                  </a:lnTo>
                  <a:lnTo>
                    <a:pt x="0" y="0"/>
                  </a:lnTo>
                  <a:close/>
                </a:path>
              </a:pathLst>
            </a:custGeom>
            <a:blipFill>
              <a:blip r:embed="rId2">
                <a:extLst>
                  <a:ext uri="{96DAC541-7B7A-43D3-8B79-37D633B846F1}">
                    <asvg:svgBlip xmlns:asvg="http://schemas.microsoft.com/office/drawing/2016/SVG/main" r:embed="rId3"/>
                  </a:ext>
                </a:extLst>
              </a:blip>
              <a:stretch>
                <a:fillRect l="-11559" r="-121039"/>
              </a:stretch>
            </a:blipFill>
          </p:spPr>
        </p:sp>
      </p:grpSp>
      <p:grpSp>
        <p:nvGrpSpPr>
          <p:cNvPr id="5" name="Group 5"/>
          <p:cNvGrpSpPr/>
          <p:nvPr/>
        </p:nvGrpSpPr>
        <p:grpSpPr>
          <a:xfrm>
            <a:off x="10737144" y="1028700"/>
            <a:ext cx="5512605" cy="8229600"/>
            <a:chOff x="0" y="0"/>
            <a:chExt cx="812800" cy="1213404"/>
          </a:xfrm>
        </p:grpSpPr>
        <p:sp>
          <p:nvSpPr>
            <p:cNvPr id="6" name="Freeform 6"/>
            <p:cNvSpPr/>
            <p:nvPr/>
          </p:nvSpPr>
          <p:spPr>
            <a:xfrm>
              <a:off x="0" y="0"/>
              <a:ext cx="812800" cy="1213404"/>
            </a:xfrm>
            <a:custGeom>
              <a:avLst/>
              <a:gdLst/>
              <a:ahLst/>
              <a:cxnLst/>
              <a:rect l="l" t="t" r="r" b="b"/>
              <a:pathLst>
                <a:path w="812800" h="1213404">
                  <a:moveTo>
                    <a:pt x="0" y="0"/>
                  </a:moveTo>
                  <a:lnTo>
                    <a:pt x="812800" y="0"/>
                  </a:lnTo>
                  <a:lnTo>
                    <a:pt x="812800" y="1213404"/>
                  </a:lnTo>
                  <a:lnTo>
                    <a:pt x="0" y="1213404"/>
                  </a:lnTo>
                  <a:close/>
                </a:path>
              </a:pathLst>
            </a:custGeom>
            <a:blipFill>
              <a:blip r:embed="rId4"/>
              <a:stretch>
                <a:fillRect l="-17365" r="-17365"/>
              </a:stretch>
            </a:blipFill>
          </p:spPr>
        </p:sp>
      </p:grpSp>
      <p:grpSp>
        <p:nvGrpSpPr>
          <p:cNvPr id="7" name="Group 7"/>
          <p:cNvGrpSpPr/>
          <p:nvPr/>
        </p:nvGrpSpPr>
        <p:grpSpPr>
          <a:xfrm>
            <a:off x="1589447" y="2112755"/>
            <a:ext cx="7366296" cy="6061491"/>
            <a:chOff x="0" y="0"/>
            <a:chExt cx="9821728" cy="8081988"/>
          </a:xfrm>
        </p:grpSpPr>
        <p:sp>
          <p:nvSpPr>
            <p:cNvPr id="8" name="TextBox 8"/>
            <p:cNvSpPr txBox="1"/>
            <p:nvPr/>
          </p:nvSpPr>
          <p:spPr>
            <a:xfrm>
              <a:off x="0" y="0"/>
              <a:ext cx="9821728" cy="2819400"/>
            </a:xfrm>
            <a:prstGeom prst="rect">
              <a:avLst/>
            </a:prstGeom>
          </p:spPr>
          <p:txBody>
            <a:bodyPr lIns="0" tIns="0" rIns="0" bIns="0" rtlCol="0" anchor="t">
              <a:spAutoFit/>
            </a:bodyPr>
            <a:lstStyle/>
            <a:p>
              <a:pPr marL="0" lvl="0" indent="0" algn="l">
                <a:lnSpc>
                  <a:spcPts val="8399"/>
                </a:lnSpc>
              </a:pPr>
              <a:r>
                <a:rPr lang="en-US" sz="6999" strike="noStrike">
                  <a:solidFill>
                    <a:srgbClr val="ECF0F1"/>
                  </a:solidFill>
                  <a:latin typeface="Georgia Pro Condensed"/>
                  <a:ea typeface="Georgia Pro Condensed"/>
                  <a:cs typeface="Georgia Pro Condensed"/>
                  <a:sym typeface="Georgia Pro Condensed"/>
                </a:rPr>
                <a:t>Dashboard et API </a:t>
              </a:r>
            </a:p>
            <a:p>
              <a:pPr marL="0" lvl="0" indent="0" algn="l">
                <a:lnSpc>
                  <a:spcPts val="8399"/>
                </a:lnSpc>
              </a:pPr>
              <a:endParaRPr lang="en-US" sz="6999" strike="noStrike">
                <a:solidFill>
                  <a:srgbClr val="ECF0F1"/>
                </a:solidFill>
                <a:latin typeface="Georgia Pro Condensed"/>
                <a:ea typeface="Georgia Pro Condensed"/>
                <a:cs typeface="Georgia Pro Condensed"/>
                <a:sym typeface="Georgia Pro Condensed"/>
              </a:endParaRPr>
            </a:p>
          </p:txBody>
        </p:sp>
        <p:sp>
          <p:nvSpPr>
            <p:cNvPr id="9" name="TextBox 9"/>
            <p:cNvSpPr txBox="1"/>
            <p:nvPr/>
          </p:nvSpPr>
          <p:spPr>
            <a:xfrm>
              <a:off x="0" y="3208574"/>
              <a:ext cx="9821728" cy="4873413"/>
            </a:xfrm>
            <a:prstGeom prst="rect">
              <a:avLst/>
            </a:prstGeom>
          </p:spPr>
          <p:txBody>
            <a:bodyPr lIns="0" tIns="0" rIns="0" bIns="0" rtlCol="0" anchor="t">
              <a:spAutoFit/>
            </a:bodyPr>
            <a:lstStyle/>
            <a:p>
              <a:pPr marL="0" lvl="0" indent="0" algn="l">
                <a:lnSpc>
                  <a:spcPts val="4160"/>
                </a:lnSpc>
              </a:pPr>
              <a:r>
                <a:rPr lang="en-US" sz="3200" strike="noStrike" spc="-48">
                  <a:solidFill>
                    <a:srgbClr val="ECF0F1"/>
                  </a:solidFill>
                  <a:latin typeface="Helvetica World"/>
                  <a:ea typeface="Helvetica World"/>
                  <a:cs typeface="Helvetica World"/>
                  <a:sym typeface="Helvetica World"/>
                </a:rPr>
                <a:t>Le dashboard affiche des indicateurs essentiels tels que la valeur totale du portefeuille, les actifs les plus performants et l’analyse des gains/pertes, offrant aux utilisateurs une vue en temps réel de leurs investissements grâce à l’intégration fluide de l’API CoinGecko.</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271999" y="271999"/>
            <a:ext cx="10138099" cy="9743002"/>
            <a:chOff x="0" y="0"/>
            <a:chExt cx="845761" cy="812800"/>
          </a:xfrm>
        </p:grpSpPr>
        <p:sp>
          <p:nvSpPr>
            <p:cNvPr id="3" name="Freeform 3"/>
            <p:cNvSpPr/>
            <p:nvPr/>
          </p:nvSpPr>
          <p:spPr>
            <a:xfrm>
              <a:off x="0" y="0"/>
              <a:ext cx="845761" cy="812800"/>
            </a:xfrm>
            <a:custGeom>
              <a:avLst/>
              <a:gdLst/>
              <a:ahLst/>
              <a:cxnLst/>
              <a:rect l="l" t="t" r="r" b="b"/>
              <a:pathLst>
                <a:path w="845761" h="812800">
                  <a:moveTo>
                    <a:pt x="0" y="0"/>
                  </a:moveTo>
                  <a:lnTo>
                    <a:pt x="845761" y="0"/>
                  </a:lnTo>
                  <a:lnTo>
                    <a:pt x="845761" y="812800"/>
                  </a:lnTo>
                  <a:lnTo>
                    <a:pt x="0" y="812800"/>
                  </a:lnTo>
                  <a:close/>
                </a:path>
              </a:pathLst>
            </a:custGeom>
            <a:blipFill>
              <a:blip r:embed="rId2"/>
              <a:stretch>
                <a:fillRect t="-7648" b="-7648"/>
              </a:stretch>
            </a:blipFill>
          </p:spPr>
        </p:sp>
      </p:grpSp>
      <p:grpSp>
        <p:nvGrpSpPr>
          <p:cNvPr id="4" name="Group 4"/>
          <p:cNvGrpSpPr/>
          <p:nvPr/>
        </p:nvGrpSpPr>
        <p:grpSpPr>
          <a:xfrm>
            <a:off x="11508355" y="1415651"/>
            <a:ext cx="5808095" cy="7596124"/>
            <a:chOff x="0" y="0"/>
            <a:chExt cx="7744127" cy="10128165"/>
          </a:xfrm>
        </p:grpSpPr>
        <p:sp>
          <p:nvSpPr>
            <p:cNvPr id="5" name="TextBox 5"/>
            <p:cNvSpPr txBox="1"/>
            <p:nvPr/>
          </p:nvSpPr>
          <p:spPr>
            <a:xfrm>
              <a:off x="261282" y="-19050"/>
              <a:ext cx="7406645" cy="3676650"/>
            </a:xfrm>
            <a:prstGeom prst="rect">
              <a:avLst/>
            </a:prstGeom>
          </p:spPr>
          <p:txBody>
            <a:bodyPr lIns="0" tIns="0" rIns="0" bIns="0" rtlCol="0" anchor="t">
              <a:spAutoFit/>
            </a:bodyPr>
            <a:lstStyle/>
            <a:p>
              <a:pPr marL="0" lvl="0" indent="0" algn="l">
                <a:lnSpc>
                  <a:spcPts val="10800"/>
                </a:lnSpc>
              </a:pPr>
              <a:r>
                <a:rPr lang="en-US" sz="9000" strike="noStrike">
                  <a:solidFill>
                    <a:srgbClr val="ECF0F1"/>
                  </a:solidFill>
                  <a:latin typeface="Georgia Pro Condensed"/>
                  <a:ea typeface="Georgia Pro Condensed"/>
                  <a:cs typeface="Georgia Pro Condensed"/>
                  <a:sym typeface="Georgia Pro Condensed"/>
                </a:rPr>
                <a:t>Test et Validation</a:t>
              </a:r>
            </a:p>
          </p:txBody>
        </p:sp>
        <p:sp>
          <p:nvSpPr>
            <p:cNvPr id="6" name="TextBox 6"/>
            <p:cNvSpPr txBox="1"/>
            <p:nvPr/>
          </p:nvSpPr>
          <p:spPr>
            <a:xfrm>
              <a:off x="261282" y="4650655"/>
              <a:ext cx="7406645" cy="5477510"/>
            </a:xfrm>
            <a:prstGeom prst="rect">
              <a:avLst/>
            </a:prstGeom>
          </p:spPr>
          <p:txBody>
            <a:bodyPr lIns="0" tIns="0" rIns="0" bIns="0" rtlCol="0" anchor="t">
              <a:spAutoFit/>
            </a:bodyPr>
            <a:lstStyle/>
            <a:p>
              <a:pPr marL="0" lvl="0" indent="0" algn="l">
                <a:lnSpc>
                  <a:spcPts val="3607"/>
                </a:lnSpc>
              </a:pPr>
              <a:r>
                <a:rPr lang="en-US" sz="2775" strike="noStrike" spc="-41">
                  <a:solidFill>
                    <a:srgbClr val="ECF0F1"/>
                  </a:solidFill>
                  <a:latin typeface="Helvetica World"/>
                  <a:ea typeface="Helvetica World"/>
                  <a:cs typeface="Helvetica World"/>
                  <a:sym typeface="Helvetica World"/>
                </a:rPr>
                <a:t>La phase de tests se concentre sur la validation des fonctionnalités CRUD, la vérification de la fluidité de la navigation dans la SPA, ainsi que le contrôle de la précision des fonctions de recherche et de tri, garantissant une base solide pour une expérience utilisateur fluide au sein de CryptoFolio.</a:t>
              </a:r>
            </a:p>
          </p:txBody>
        </p:sp>
        <p:sp>
          <p:nvSpPr>
            <p:cNvPr id="7" name="AutoShape 7"/>
            <p:cNvSpPr/>
            <p:nvPr/>
          </p:nvSpPr>
          <p:spPr>
            <a:xfrm>
              <a:off x="0" y="4125249"/>
              <a:ext cx="7744127" cy="0"/>
            </a:xfrm>
            <a:prstGeom prst="line">
              <a:avLst/>
            </a:prstGeom>
            <a:ln w="139700" cap="flat">
              <a:solidFill>
                <a:srgbClr val="021726"/>
              </a:solidFill>
              <a:prstDash val="solid"/>
              <a:headEnd type="none" w="sm" len="sm"/>
              <a:tailEnd type="none" w="sm" len="sm"/>
            </a:ln>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4495E"/>
        </a:solidFill>
        <a:effectLst/>
      </p:bgPr>
    </p:bg>
    <p:spTree>
      <p:nvGrpSpPr>
        <p:cNvPr id="1" name=""/>
        <p:cNvGrpSpPr/>
        <p:nvPr/>
      </p:nvGrpSpPr>
      <p:grpSpPr>
        <a:xfrm>
          <a:off x="0" y="0"/>
          <a:ext cx="0" cy="0"/>
          <a:chOff x="0" y="0"/>
          <a:chExt cx="0" cy="0"/>
        </a:xfrm>
      </p:grpSpPr>
      <p:grpSp>
        <p:nvGrpSpPr>
          <p:cNvPr id="2" name="Group 2"/>
          <p:cNvGrpSpPr/>
          <p:nvPr/>
        </p:nvGrpSpPr>
        <p:grpSpPr>
          <a:xfrm>
            <a:off x="271999" y="271999"/>
            <a:ext cx="7908899" cy="9743002"/>
            <a:chOff x="0" y="0"/>
            <a:chExt cx="812800" cy="1001291"/>
          </a:xfrm>
        </p:grpSpPr>
        <p:sp>
          <p:nvSpPr>
            <p:cNvPr id="3" name="Freeform 3"/>
            <p:cNvSpPr/>
            <p:nvPr/>
          </p:nvSpPr>
          <p:spPr>
            <a:xfrm>
              <a:off x="0" y="0"/>
              <a:ext cx="812800" cy="1001291"/>
            </a:xfrm>
            <a:custGeom>
              <a:avLst/>
              <a:gdLst/>
              <a:ahLst/>
              <a:cxnLst/>
              <a:rect l="l" t="t" r="r" b="b"/>
              <a:pathLst>
                <a:path w="812800" h="1001291">
                  <a:moveTo>
                    <a:pt x="0" y="0"/>
                  </a:moveTo>
                  <a:lnTo>
                    <a:pt x="812800" y="0"/>
                  </a:lnTo>
                  <a:lnTo>
                    <a:pt x="812800" y="1001291"/>
                  </a:lnTo>
                  <a:lnTo>
                    <a:pt x="0" y="1001291"/>
                  </a:lnTo>
                  <a:close/>
                </a:path>
              </a:pathLst>
            </a:custGeom>
            <a:blipFill>
              <a:blip r:embed="rId2"/>
              <a:stretch>
                <a:fillRect l="-5589" r="-5589"/>
              </a:stretch>
            </a:blipFill>
          </p:spPr>
        </p:sp>
      </p:grpSp>
      <p:grpSp>
        <p:nvGrpSpPr>
          <p:cNvPr id="4" name="Group 4"/>
          <p:cNvGrpSpPr/>
          <p:nvPr/>
        </p:nvGrpSpPr>
        <p:grpSpPr>
          <a:xfrm>
            <a:off x="9256123" y="1384423"/>
            <a:ext cx="8384422" cy="7256898"/>
            <a:chOff x="0" y="0"/>
            <a:chExt cx="11179230" cy="9675864"/>
          </a:xfrm>
        </p:grpSpPr>
        <p:sp>
          <p:nvSpPr>
            <p:cNvPr id="5" name="TextBox 5"/>
            <p:cNvSpPr txBox="1"/>
            <p:nvPr/>
          </p:nvSpPr>
          <p:spPr>
            <a:xfrm>
              <a:off x="161667" y="-19050"/>
              <a:ext cx="10356836" cy="5505450"/>
            </a:xfrm>
            <a:prstGeom prst="rect">
              <a:avLst/>
            </a:prstGeom>
          </p:spPr>
          <p:txBody>
            <a:bodyPr lIns="0" tIns="0" rIns="0" bIns="0" rtlCol="0" anchor="t">
              <a:spAutoFit/>
            </a:bodyPr>
            <a:lstStyle/>
            <a:p>
              <a:pPr marL="0" lvl="0" indent="0" algn="l">
                <a:lnSpc>
                  <a:spcPts val="10800"/>
                </a:lnSpc>
              </a:pPr>
              <a:r>
                <a:rPr lang="en-US" sz="9000" strike="noStrike">
                  <a:solidFill>
                    <a:srgbClr val="ECF0F1"/>
                  </a:solidFill>
                  <a:latin typeface="Georgia Pro Condensed"/>
                  <a:ea typeface="Georgia Pro Condensed"/>
                  <a:cs typeface="Georgia Pro Condensed"/>
                  <a:sym typeface="Georgia Pro Condensed"/>
                </a:rPr>
                <a:t>Difficultés </a:t>
              </a:r>
            </a:p>
            <a:p>
              <a:pPr marL="0" lvl="0" indent="0" algn="l">
                <a:lnSpc>
                  <a:spcPts val="10800"/>
                </a:lnSpc>
              </a:pPr>
              <a:r>
                <a:rPr lang="en-US" sz="9000">
                  <a:solidFill>
                    <a:srgbClr val="ECF0F1"/>
                  </a:solidFill>
                  <a:latin typeface="Georgia Pro Condensed"/>
                  <a:ea typeface="Georgia Pro Condensed"/>
                  <a:cs typeface="Georgia Pro Condensed"/>
                  <a:sym typeface="Georgia Pro Condensed"/>
                </a:rPr>
                <a:t>et</a:t>
              </a:r>
            </a:p>
            <a:p>
              <a:pPr marL="0" lvl="0" indent="0" algn="l">
                <a:lnSpc>
                  <a:spcPts val="10800"/>
                </a:lnSpc>
              </a:pPr>
              <a:r>
                <a:rPr lang="en-US" sz="9000">
                  <a:solidFill>
                    <a:srgbClr val="ECF0F1"/>
                  </a:solidFill>
                  <a:latin typeface="Georgia Pro Condensed"/>
                  <a:ea typeface="Georgia Pro Condensed"/>
                  <a:cs typeface="Georgia Pro Condensed"/>
                  <a:sym typeface="Georgia Pro Condensed"/>
                </a:rPr>
                <a:t> Solutions</a:t>
              </a:r>
            </a:p>
          </p:txBody>
        </p:sp>
        <p:sp>
          <p:nvSpPr>
            <p:cNvPr id="6" name="TextBox 6"/>
            <p:cNvSpPr txBox="1"/>
            <p:nvPr/>
          </p:nvSpPr>
          <p:spPr>
            <a:xfrm>
              <a:off x="161667" y="6386564"/>
              <a:ext cx="10356836" cy="3289300"/>
            </a:xfrm>
            <a:prstGeom prst="rect">
              <a:avLst/>
            </a:prstGeom>
          </p:spPr>
          <p:txBody>
            <a:bodyPr lIns="0" tIns="0" rIns="0" bIns="0" rtlCol="0" anchor="t">
              <a:spAutoFit/>
            </a:bodyPr>
            <a:lstStyle/>
            <a:p>
              <a:pPr marL="0" lvl="0" indent="0" algn="l">
                <a:lnSpc>
                  <a:spcPts val="3900"/>
                </a:lnSpc>
              </a:pPr>
              <a:r>
                <a:rPr lang="en-US" sz="3000" strike="noStrike" spc="-44">
                  <a:solidFill>
                    <a:srgbClr val="ECF0F1"/>
                  </a:solidFill>
                  <a:latin typeface="Helvetica World"/>
                  <a:ea typeface="Helvetica World"/>
                  <a:cs typeface="Helvetica World"/>
                  <a:sym typeface="Helvetica World"/>
                </a:rPr>
                <a:t>La gestion de l'état SPA et la synchronisation des opérations CRUD avec le Local Storage ont posé des défis. Les solutions incluent une architecture modulaire et une stratégie de mise en cache pour optimiser l'intégration API.</a:t>
              </a:r>
            </a:p>
          </p:txBody>
        </p:sp>
        <p:sp>
          <p:nvSpPr>
            <p:cNvPr id="7" name="AutoShape 7"/>
            <p:cNvSpPr/>
            <p:nvPr/>
          </p:nvSpPr>
          <p:spPr>
            <a:xfrm>
              <a:off x="0" y="5907453"/>
              <a:ext cx="11179230" cy="0"/>
            </a:xfrm>
            <a:prstGeom prst="line">
              <a:avLst/>
            </a:prstGeom>
            <a:ln w="139700" cap="flat">
              <a:solidFill>
                <a:srgbClr val="DAD8F0"/>
              </a:solidFill>
              <a:prstDash val="solid"/>
              <a:headEnd type="none" w="sm" len="sm"/>
              <a:tailEnd type="none" w="sm" len="sm"/>
            </a:ln>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C3E50"/>
        </a:solidFill>
        <a:effectLst/>
      </p:bgPr>
    </p:bg>
    <p:spTree>
      <p:nvGrpSpPr>
        <p:cNvPr id="1" name=""/>
        <p:cNvGrpSpPr/>
        <p:nvPr/>
      </p:nvGrpSpPr>
      <p:grpSpPr>
        <a:xfrm>
          <a:off x="0" y="0"/>
          <a:ext cx="0" cy="0"/>
          <a:chOff x="0" y="0"/>
          <a:chExt cx="0" cy="0"/>
        </a:xfrm>
      </p:grpSpPr>
      <p:grpSp>
        <p:nvGrpSpPr>
          <p:cNvPr id="2" name="Group 2"/>
          <p:cNvGrpSpPr/>
          <p:nvPr/>
        </p:nvGrpSpPr>
        <p:grpSpPr>
          <a:xfrm>
            <a:off x="271999" y="271999"/>
            <a:ext cx="7908899" cy="9743002"/>
            <a:chOff x="0" y="0"/>
            <a:chExt cx="812800" cy="1001291"/>
          </a:xfrm>
        </p:grpSpPr>
        <p:sp>
          <p:nvSpPr>
            <p:cNvPr id="3" name="Freeform 3"/>
            <p:cNvSpPr/>
            <p:nvPr/>
          </p:nvSpPr>
          <p:spPr>
            <a:xfrm>
              <a:off x="0" y="0"/>
              <a:ext cx="812800" cy="1001291"/>
            </a:xfrm>
            <a:custGeom>
              <a:avLst/>
              <a:gdLst/>
              <a:ahLst/>
              <a:cxnLst/>
              <a:rect l="l" t="t" r="r" b="b"/>
              <a:pathLst>
                <a:path w="812800" h="1001291">
                  <a:moveTo>
                    <a:pt x="0" y="0"/>
                  </a:moveTo>
                  <a:lnTo>
                    <a:pt x="812800" y="0"/>
                  </a:lnTo>
                  <a:lnTo>
                    <a:pt x="812800" y="1001291"/>
                  </a:lnTo>
                  <a:lnTo>
                    <a:pt x="0" y="1001291"/>
                  </a:lnTo>
                  <a:close/>
                </a:path>
              </a:pathLst>
            </a:custGeom>
            <a:blipFill>
              <a:blip r:embed="rId2"/>
              <a:stretch>
                <a:fillRect l="-5589" r="-5589"/>
              </a:stretch>
            </a:blipFill>
          </p:spPr>
        </p:sp>
      </p:grpSp>
      <p:grpSp>
        <p:nvGrpSpPr>
          <p:cNvPr id="4" name="Group 4"/>
          <p:cNvGrpSpPr/>
          <p:nvPr/>
        </p:nvGrpSpPr>
        <p:grpSpPr>
          <a:xfrm>
            <a:off x="9256123" y="1393233"/>
            <a:ext cx="8384422" cy="7239277"/>
            <a:chOff x="0" y="0"/>
            <a:chExt cx="11179230" cy="9652369"/>
          </a:xfrm>
        </p:grpSpPr>
        <p:sp>
          <p:nvSpPr>
            <p:cNvPr id="5" name="TextBox 5"/>
            <p:cNvSpPr txBox="1"/>
            <p:nvPr/>
          </p:nvSpPr>
          <p:spPr>
            <a:xfrm>
              <a:off x="161667" y="-9525"/>
              <a:ext cx="10356836" cy="4962525"/>
            </a:xfrm>
            <a:prstGeom prst="rect">
              <a:avLst/>
            </a:prstGeom>
          </p:spPr>
          <p:txBody>
            <a:bodyPr lIns="0" tIns="0" rIns="0" bIns="0" rtlCol="0" anchor="t">
              <a:spAutoFit/>
            </a:bodyPr>
            <a:lstStyle/>
            <a:p>
              <a:pPr marL="0" lvl="0" indent="0" algn="l">
                <a:lnSpc>
                  <a:spcPts val="9787"/>
                </a:lnSpc>
              </a:pPr>
              <a:r>
                <a:rPr lang="en-US" sz="8156" strike="noStrike">
                  <a:solidFill>
                    <a:srgbClr val="ECF0F1"/>
                  </a:solidFill>
                  <a:latin typeface="Georgia Pro Condensed"/>
                  <a:ea typeface="Georgia Pro Condensed"/>
                  <a:cs typeface="Georgia Pro Condensed"/>
                  <a:sym typeface="Georgia Pro Condensed"/>
                </a:rPr>
                <a:t>Conclusion et Future Perspectives</a:t>
              </a:r>
            </a:p>
          </p:txBody>
        </p:sp>
        <p:sp>
          <p:nvSpPr>
            <p:cNvPr id="6" name="TextBox 6"/>
            <p:cNvSpPr txBox="1"/>
            <p:nvPr/>
          </p:nvSpPr>
          <p:spPr>
            <a:xfrm>
              <a:off x="161667" y="5862689"/>
              <a:ext cx="10356836" cy="3789680"/>
            </a:xfrm>
            <a:prstGeom prst="rect">
              <a:avLst/>
            </a:prstGeom>
          </p:spPr>
          <p:txBody>
            <a:bodyPr lIns="0" tIns="0" rIns="0" bIns="0" rtlCol="0" anchor="t">
              <a:spAutoFit/>
            </a:bodyPr>
            <a:lstStyle/>
            <a:p>
              <a:pPr marL="0" lvl="0" indent="0" algn="l">
                <a:lnSpc>
                  <a:spcPts val="3753"/>
                </a:lnSpc>
              </a:pPr>
              <a:r>
                <a:rPr lang="en-US" sz="2887" strike="noStrike" spc="-43">
                  <a:solidFill>
                    <a:srgbClr val="ECF0F1"/>
                  </a:solidFill>
                  <a:latin typeface="Helvetica World"/>
                  <a:ea typeface="Helvetica World"/>
                  <a:cs typeface="Helvetica World"/>
                  <a:sym typeface="Helvetica World"/>
                </a:rPr>
                <a:t>CryptoFolio se révèle être une SPA robuste et conviviale pour la gestion des actifs crypto, offrant une interface moderne et un tableau de bord dynamique tout en répondant aux exigences du projet, constituant ainsi une base solide pour une future application de gestion crypto plus avancée.</a:t>
              </a:r>
            </a:p>
          </p:txBody>
        </p:sp>
        <p:sp>
          <p:nvSpPr>
            <p:cNvPr id="7" name="AutoShape 7"/>
            <p:cNvSpPr/>
            <p:nvPr/>
          </p:nvSpPr>
          <p:spPr>
            <a:xfrm>
              <a:off x="0" y="5374053"/>
              <a:ext cx="11179230" cy="0"/>
            </a:xfrm>
            <a:prstGeom prst="line">
              <a:avLst/>
            </a:prstGeom>
            <a:ln w="139700" cap="flat">
              <a:solidFill>
                <a:srgbClr val="C2D1FD"/>
              </a:solidFill>
              <a:prstDash val="solid"/>
              <a:headEnd type="none" w="sm" len="sm"/>
              <a:tailEnd type="none" w="sm" len="sm"/>
            </a:ln>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4495E"/>
        </a:solidFill>
        <a:effectLst/>
      </p:bgPr>
    </p:bg>
    <p:spTree>
      <p:nvGrpSpPr>
        <p:cNvPr id="1" name=""/>
        <p:cNvGrpSpPr/>
        <p:nvPr/>
      </p:nvGrpSpPr>
      <p:grpSpPr>
        <a:xfrm>
          <a:off x="0" y="0"/>
          <a:ext cx="0" cy="0"/>
          <a:chOff x="0" y="0"/>
          <a:chExt cx="0" cy="0"/>
        </a:xfrm>
      </p:grpSpPr>
      <p:sp>
        <p:nvSpPr>
          <p:cNvPr id="2" name="AutoShape 2"/>
          <p:cNvSpPr/>
          <p:nvPr/>
        </p:nvSpPr>
        <p:spPr>
          <a:xfrm>
            <a:off x="5358840" y="1108553"/>
            <a:ext cx="11859377" cy="8069894"/>
          </a:xfrm>
          <a:prstGeom prst="rect">
            <a:avLst/>
          </a:prstGeom>
          <a:solidFill>
            <a:srgbClr val="1D3346"/>
          </a:solidFill>
        </p:spPr>
      </p:sp>
      <p:grpSp>
        <p:nvGrpSpPr>
          <p:cNvPr id="3" name="Group 3"/>
          <p:cNvGrpSpPr/>
          <p:nvPr/>
        </p:nvGrpSpPr>
        <p:grpSpPr>
          <a:xfrm>
            <a:off x="5607369" y="1365529"/>
            <a:ext cx="11362320" cy="7555943"/>
            <a:chOff x="0" y="0"/>
            <a:chExt cx="1222256" cy="812800"/>
          </a:xfrm>
        </p:grpSpPr>
        <p:sp>
          <p:nvSpPr>
            <p:cNvPr id="4" name="Freeform 4"/>
            <p:cNvSpPr/>
            <p:nvPr/>
          </p:nvSpPr>
          <p:spPr>
            <a:xfrm>
              <a:off x="0" y="0"/>
              <a:ext cx="1222256" cy="812800"/>
            </a:xfrm>
            <a:custGeom>
              <a:avLst/>
              <a:gdLst/>
              <a:ahLst/>
              <a:cxnLst/>
              <a:rect l="l" t="t" r="r" b="b"/>
              <a:pathLst>
                <a:path w="1222256" h="812800">
                  <a:moveTo>
                    <a:pt x="0" y="0"/>
                  </a:moveTo>
                  <a:lnTo>
                    <a:pt x="1222256" y="0"/>
                  </a:lnTo>
                  <a:lnTo>
                    <a:pt x="1222256" y="812800"/>
                  </a:lnTo>
                  <a:lnTo>
                    <a:pt x="0" y="812800"/>
                  </a:lnTo>
                  <a:close/>
                </a:path>
              </a:pathLst>
            </a:custGeom>
            <a:blipFill>
              <a:blip r:embed="rId2"/>
              <a:stretch>
                <a:fillRect t="-33277" b="-33277"/>
              </a:stretch>
            </a:blipFill>
          </p:spPr>
        </p:sp>
      </p:grpSp>
      <p:grpSp>
        <p:nvGrpSpPr>
          <p:cNvPr id="5" name="Group 5"/>
          <p:cNvGrpSpPr/>
          <p:nvPr/>
        </p:nvGrpSpPr>
        <p:grpSpPr>
          <a:xfrm>
            <a:off x="723248" y="2582548"/>
            <a:ext cx="6982269" cy="5121904"/>
            <a:chOff x="0" y="0"/>
            <a:chExt cx="9309692" cy="6829205"/>
          </a:xfrm>
        </p:grpSpPr>
        <p:sp>
          <p:nvSpPr>
            <p:cNvPr id="6" name="AutoShape 6"/>
            <p:cNvSpPr/>
            <p:nvPr/>
          </p:nvSpPr>
          <p:spPr>
            <a:xfrm>
              <a:off x="0" y="0"/>
              <a:ext cx="9309692" cy="6829205"/>
            </a:xfrm>
            <a:prstGeom prst="rect">
              <a:avLst/>
            </a:prstGeom>
            <a:solidFill>
              <a:srgbClr val="1D3346"/>
            </a:solidFill>
          </p:spPr>
        </p:sp>
        <p:sp>
          <p:nvSpPr>
            <p:cNvPr id="7" name="TextBox 7"/>
            <p:cNvSpPr txBox="1"/>
            <p:nvPr/>
          </p:nvSpPr>
          <p:spPr>
            <a:xfrm>
              <a:off x="524778" y="609216"/>
              <a:ext cx="8260135" cy="4747641"/>
            </a:xfrm>
            <a:prstGeom prst="rect">
              <a:avLst/>
            </a:prstGeom>
          </p:spPr>
          <p:txBody>
            <a:bodyPr lIns="0" tIns="0" rIns="0" bIns="0" rtlCol="0" anchor="t">
              <a:spAutoFit/>
            </a:bodyPr>
            <a:lstStyle/>
            <a:p>
              <a:pPr marL="0" lvl="0" indent="0" algn="ctr">
                <a:lnSpc>
                  <a:spcPts val="9324"/>
                </a:lnSpc>
              </a:pPr>
              <a:r>
                <a:rPr lang="en-US" sz="8400">
                  <a:solidFill>
                    <a:srgbClr val="ECF0F1"/>
                  </a:solidFill>
                  <a:latin typeface="Georgia Pro Condensed"/>
                  <a:ea typeface="Georgia Pro Condensed"/>
                  <a:cs typeface="Georgia Pro Condensed"/>
                  <a:sym typeface="Georgia Pro Condensed"/>
                </a:rPr>
                <a:t>Merci pour votre attention</a:t>
              </a:r>
            </a:p>
          </p:txBody>
        </p:sp>
        <p:sp>
          <p:nvSpPr>
            <p:cNvPr id="8" name="TextBox 8"/>
            <p:cNvSpPr txBox="1"/>
            <p:nvPr/>
          </p:nvSpPr>
          <p:spPr>
            <a:xfrm>
              <a:off x="524778" y="5692304"/>
              <a:ext cx="8260135" cy="594360"/>
            </a:xfrm>
            <a:prstGeom prst="rect">
              <a:avLst/>
            </a:prstGeom>
          </p:spPr>
          <p:txBody>
            <a:bodyPr lIns="0" tIns="0" rIns="0" bIns="0" rtlCol="0" anchor="t">
              <a:spAutoFit/>
            </a:bodyPr>
            <a:lstStyle/>
            <a:p>
              <a:pPr marL="0" lvl="0" indent="0" algn="ctr">
                <a:lnSpc>
                  <a:spcPts val="3780"/>
                </a:lnSpc>
              </a:pPr>
              <a:r>
                <a:rPr lang="en-US" sz="2700">
                  <a:solidFill>
                    <a:srgbClr val="ECF0F1"/>
                  </a:solidFill>
                  <a:latin typeface="Helvetica World"/>
                  <a:ea typeface="Helvetica World"/>
                  <a:cs typeface="Helvetica World"/>
                  <a:sym typeface="Helvetica World"/>
                </a:rPr>
                <a:t>Avez vous des questions?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TotalTime>
  <Words>444</Words>
  <Application>Microsoft Office PowerPoint</Application>
  <PresentationFormat>Personnalisé</PresentationFormat>
  <Paragraphs>35</Paragraphs>
  <Slides>10</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vt:i4>
      </vt:variant>
    </vt:vector>
  </HeadingPairs>
  <TitlesOfParts>
    <vt:vector size="16" baseType="lpstr">
      <vt:lpstr>Helvetica World Bold</vt:lpstr>
      <vt:lpstr>Helvetica World</vt:lpstr>
      <vt:lpstr>Georgia Pro Condensed</vt:lpstr>
      <vt:lpstr>Calibri</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 CryptoFolio – Application SPA</dc:title>
  <dc:description>Présentation - CryptoFolio – Application SPA</dc:description>
  <cp:lastModifiedBy>info</cp:lastModifiedBy>
  <cp:revision>3</cp:revision>
  <dcterms:created xsi:type="dcterms:W3CDTF">2006-08-16T00:00:00Z</dcterms:created>
  <dcterms:modified xsi:type="dcterms:W3CDTF">2026-01-14T21:25:54Z</dcterms:modified>
  <dc:identifier>DAG-av2_AeA</dc:identifier>
</cp:coreProperties>
</file>